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Barlow Condensed"/>
      <p:regular r:id="rId30"/>
      <p:bold r:id="rId31"/>
      <p:italic r:id="rId32"/>
      <p:boldItalic r:id="rId33"/>
    </p:embeddedFont>
    <p:embeddedFont>
      <p:font typeface="Rozha One"/>
      <p:regular r:id="rId34"/>
    </p:embeddedFont>
    <p:embeddedFont>
      <p:font typeface="Barlow Condensed Light"/>
      <p:regular r:id="rId35"/>
      <p:bold r:id="rId36"/>
      <p:italic r:id="rId37"/>
      <p:boldItalic r:id="rId38"/>
    </p:embeddedFont>
    <p:embeddedFont>
      <p:font typeface="Manjari"/>
      <p:regular r:id="rId39"/>
      <p:bold r:id="rId40"/>
    </p:embeddedFont>
    <p:embeddedFont>
      <p:font typeface="Barlow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A76B13-BDC3-4458-9222-97A57127DFAF}">
  <a:tblStyle styleId="{06A76B13-BDC3-4458-9222-97A57127DF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jari-bold.fntdata"/><Relationship Id="rId42" Type="http://schemas.openxmlformats.org/officeDocument/2006/relationships/font" Target="fonts/Barlow-bold.fntdata"/><Relationship Id="rId41" Type="http://schemas.openxmlformats.org/officeDocument/2006/relationships/font" Target="fonts/Barlow-regular.fntdata"/><Relationship Id="rId44" Type="http://schemas.openxmlformats.org/officeDocument/2006/relationships/font" Target="fonts/Barlow-boldItalic.fntdata"/><Relationship Id="rId43" Type="http://schemas.openxmlformats.org/officeDocument/2006/relationships/font" Target="fonts/Barlow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Condensed-bold.fntdata"/><Relationship Id="rId30" Type="http://schemas.openxmlformats.org/officeDocument/2006/relationships/font" Target="fonts/BarlowCondensed-regular.fntdata"/><Relationship Id="rId33" Type="http://schemas.openxmlformats.org/officeDocument/2006/relationships/font" Target="fonts/BarlowCondensed-boldItalic.fntdata"/><Relationship Id="rId32" Type="http://schemas.openxmlformats.org/officeDocument/2006/relationships/font" Target="fonts/BarlowCondensed-italic.fntdata"/><Relationship Id="rId35" Type="http://schemas.openxmlformats.org/officeDocument/2006/relationships/font" Target="fonts/BarlowCondensedLight-regular.fntdata"/><Relationship Id="rId34" Type="http://schemas.openxmlformats.org/officeDocument/2006/relationships/font" Target="fonts/RozhaOne-regular.fntdata"/><Relationship Id="rId37" Type="http://schemas.openxmlformats.org/officeDocument/2006/relationships/font" Target="fonts/BarlowCondensedLight-italic.fntdata"/><Relationship Id="rId36" Type="http://schemas.openxmlformats.org/officeDocument/2006/relationships/font" Target="fonts/BarlowCondensedLight-bold.fntdata"/><Relationship Id="rId39" Type="http://schemas.openxmlformats.org/officeDocument/2006/relationships/font" Target="fonts/Manjari-regular.fntdata"/><Relationship Id="rId38" Type="http://schemas.openxmlformats.org/officeDocument/2006/relationships/font" Target="fonts/BarlowCondensedLigh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Poppins-regular.fntdata"/><Relationship Id="rId25" Type="http://schemas.openxmlformats.org/officeDocument/2006/relationships/slide" Target="slides/slide20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29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2b03b462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2b03b462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33bcb19d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533bcb19d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533bcb19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533bcb19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1a80163ee0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1a80163ee0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1a80163ee0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1a80163ee0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34132f8174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34132f817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34399a18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34399a18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420c68752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420c68752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533bcb19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533bcb19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33bcb19d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533bcb19d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533bcb19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533bcb19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34399a18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34399a18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538f5346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538f5346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533bcb19d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533bcb19d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533bcb19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533bcb19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34399a189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34399a189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4399a189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34399a189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533bcb19d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533bcb19d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" name="Google Shape;15;p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1" name="Google Shape;21;p3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2" name="Google Shape;22;p3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764"/>
            </a:srgbClr>
          </a:solidFill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30" name="Google Shape;30;p4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1" name="Google Shape;31;p4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2" name="Google Shape;32;p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4"/>
          <p:cNvSpPr txBox="1"/>
          <p:nvPr>
            <p:ph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7" name="Google Shape;37;p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41" name="Google Shape;41;p5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2" name="Google Shape;42;p5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3" name="Google Shape;43;p5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4" name="Google Shape;44;p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0" name="Google Shape;50;p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54" name="Google Shape;54;p6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5" name="Google Shape;55;p6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6" name="Google Shape;56;p6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7" name="Google Shape;57;p6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764"/>
            </a:srgbClr>
          </a:solidFill>
          <a:ln>
            <a:noFill/>
          </a:ln>
        </p:spPr>
      </p:sp>
      <p:sp>
        <p:nvSpPr>
          <p:cNvPr id="58" name="Google Shape;58;p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0" name="Google Shape;60;p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64" name="Google Shape;64;p7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65" name="Google Shape;65;p7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66" name="Google Shape;66;p7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67" name="Google Shape;67;p7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764"/>
            </a:srgbClr>
          </a:solidFill>
          <a:ln>
            <a:noFill/>
          </a:ln>
        </p:spPr>
      </p:sp>
      <p:sp>
        <p:nvSpPr>
          <p:cNvPr id="68" name="Google Shape;68;p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70" name="Google Shape;70;p7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71" name="Google Shape;71;p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75" name="Google Shape;75;p8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76" name="Google Shape;76;p8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77" name="Google Shape;77;p8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78" name="Google Shape;78;p8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764"/>
            </a:srgbClr>
          </a:solidFill>
          <a:ln>
            <a:noFill/>
          </a:ln>
        </p:spPr>
      </p:sp>
      <p:sp>
        <p:nvSpPr>
          <p:cNvPr id="79" name="Google Shape;79;p8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9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85" name="Google Shape;85;p9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86" name="Google Shape;86;p9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87" name="Google Shape;87;p9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88" name="Google Shape;88;p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9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9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91" name="Google Shape;91;p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97" name="Google Shape;97;p11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764"/>
            </a:srgbClr>
          </a:solidFill>
          <a:ln>
            <a:noFill/>
          </a:ln>
        </p:spPr>
      </p:sp>
      <p:sp>
        <p:nvSpPr>
          <p:cNvPr id="98" name="Google Shape;98;p11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99" name="Google Shape;99;p11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1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11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4" name="Google Shape;104;p1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09" name="Google Shape;109;p13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10" name="Google Shape;110;p13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11" name="Google Shape;111;p1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5" name="Google Shape;125;p1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30" name="Google Shape;130;p14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31" name="Google Shape;131;p1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3" name="Google Shape;133;p1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4"/>
          <p:cNvSpPr txBox="1"/>
          <p:nvPr>
            <p:ph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14"/>
          <p:cNvSpPr txBox="1"/>
          <p:nvPr>
            <p:ph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43" name="Google Shape;143;p15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44" name="Google Shape;144;p15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45" name="Google Shape;145;p1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7" name="Google Shape;147;p1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5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6" name="Google Shape;156;p15"/>
          <p:cNvSpPr txBox="1"/>
          <p:nvPr>
            <p:ph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7" name="Google Shape;157;p15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60" name="Google Shape;160;p15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65" name="Google Shape;165;p15"/>
          <p:cNvSpPr txBox="1"/>
          <p:nvPr>
            <p:ph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66" name="Google Shape;166;p15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69" name="Google Shape;169;p16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70" name="Google Shape;170;p16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71" name="Google Shape;171;p1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74" name="Google Shape;174;p1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7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178" name="Google Shape;178;p17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179" name="Google Shape;179;p17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180" name="Google Shape;180;p17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181" name="Google Shape;181;p1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3" name="Google Shape;183;p1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187" name="Google Shape;187;p18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188" name="Google Shape;188;p18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189" name="Google Shape;189;p1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8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8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3" name="Google Shape;193;p18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18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97" name="Google Shape;197;p1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01" name="Google Shape;201;p19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02" name="Google Shape;202;p19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03" name="Google Shape;203;p1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05" name="Google Shape;205;p19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9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07" name="Google Shape;207;p19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9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09" name="Google Shape;209;p19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9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1" name="Google Shape;211;p1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15" name="Google Shape;215;p20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16" name="Google Shape;216;p20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17" name="Google Shape;217;p2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19" name="Google Shape;219;p20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0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21" name="Google Shape;221;p20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0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23" name="Google Shape;223;p20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0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25" name="Google Shape;225;p2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2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29" name="Google Shape;229;p21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30" name="Google Shape;230;p21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31" name="Google Shape;231;p2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36" name="Google Shape;236;p21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38" name="Google Shape;238;p21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21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0" name="Google Shape;240;p21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1" name="Google Shape;241;p2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45" name="Google Shape;245;p22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46" name="Google Shape;246;p22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47" name="Google Shape;247;p2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0" name="Google Shape;250;p2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2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54" name="Google Shape;254;p23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55" name="Google Shape;255;p2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8" name="Google Shape;258;p2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62" name="Google Shape;262;p24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63" name="Google Shape;263;p24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64" name="Google Shape;264;p24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265" name="Google Shape;265;p2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67" name="Google Shape;267;p2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5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271" name="Google Shape;271;p25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  <p:sp>
          <p:nvSpPr>
            <p:cNvPr id="272" name="Google Shape;272;p25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273" name="Google Shape;273;p25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274" name="Google Shape;274;p25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862"/>
              </a:srgbClr>
            </a:solidFill>
            <a:ln>
              <a:noFill/>
            </a:ln>
          </p:spPr>
        </p:sp>
      </p:grpSp>
      <p:sp>
        <p:nvSpPr>
          <p:cNvPr id="275" name="Google Shape;275;p2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77" name="Google Shape;277;p2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2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6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81" name="Google Shape;281;p2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82" name="Google Shape;282;p26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83" name="Google Shape;283;p2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85" name="Google Shape;285;p2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2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289" name="Google Shape;289;p27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90" name="Google Shape;290;p27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291" name="Google Shape;291;p2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3" name="Google Shape;293;p2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2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2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28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298" name="Google Shape;298;p28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299" name="Google Shape;299;p28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00" name="Google Shape;300;p2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3" name="Google Shape;313;p2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2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28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18" name="Google Shape;318;p29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319" name="Google Shape;319;p29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20" name="Google Shape;320;p2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9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2" name="Google Shape;322;p29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3" name="Google Shape;323;p29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5" name="Google Shape;325;p29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" name="Google Shape;327;p29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9" name="Google Shape;329;p29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1" name="Google Shape;331;p29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32" name="Google Shape;332;p29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3" name="Google Shape;333;p29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4" name="Google Shape;334;p2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2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38" name="Google Shape;338;p30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39" name="Google Shape;339;p30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340" name="Google Shape;340;p3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4" name="Google Shape;344;p30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6" name="Google Shape;346;p30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8" name="Google Shape;348;p30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0" name="Google Shape;350;p3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3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354" name="Google Shape;354;p31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55" name="Google Shape;355;p31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56" name="Google Shape;356;p31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357" name="Google Shape;357;p3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59" name="Google Shape;359;p3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3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31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2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64" name="Google Shape;364;p32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65" name="Google Shape;365;p3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67" name="Google Shape;367;p3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3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32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72" name="Google Shape;372;p33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73" name="Google Shape;373;p3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3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3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3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380" name="Google Shape;380;p34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81" name="Google Shape;381;p3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3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3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4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" name="Google Shape;385;p3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35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388" name="Google Shape;388;p35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389" name="Google Shape;389;p35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390" name="Google Shape;390;p35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391" name="Google Shape;391;p3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3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3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35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5" name="Google Shape;395;p35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398" name="Google Shape;398;p36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399" name="Google Shape;399;p36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00" name="Google Shape;400;p3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3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36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3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407" name="Google Shape;407;p37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08" name="Google Shape;408;p37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09" name="Google Shape;409;p37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10" name="Google Shape;410;p3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12" name="Google Shape;412;p3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3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416" name="Google Shape;416;p38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17" name="Google Shape;417;p38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18" name="Google Shape;418;p38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19" name="Google Shape;419;p3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21" name="Google Shape;421;p3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3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25" name="Google Shape;425;p39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26" name="Google Shape;426;p39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27" name="Google Shape;427;p3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29" name="Google Shape;429;p3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3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33" name="Google Shape;433;p40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34" name="Google Shape;434;p40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35" name="Google Shape;435;p4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37" name="Google Shape;437;p4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4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41" name="Google Shape;441;p41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42" name="Google Shape;442;p41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43" name="Google Shape;443;p4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45" name="Google Shape;445;p4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4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49" name="Google Shape;449;p42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50" name="Google Shape;450;p42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451" name="Google Shape;451;p42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452" name="Google Shape;452;p4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54" name="Google Shape;454;p4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4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58" name="Google Shape;458;p43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59" name="Google Shape;459;p4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1" name="Google Shape;461;p4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4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44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465" name="Google Shape;465;p44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466" name="Google Shape;466;p44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467" name="Google Shape;467;p4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9" name="Google Shape;469;p4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4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473" name="Google Shape;473;p4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74" name="Google Shape;474;p4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75" name="Google Shape;475;p4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77" name="Google Shape;477;p4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4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81" name="Google Shape;481;p46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82" name="Google Shape;482;p4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6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84" name="Google Shape;484;p4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4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88" name="Google Shape;488;p47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89" name="Google Shape;489;p4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4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4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4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495" name="Google Shape;495;p4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496" name="Google Shape;496;p4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4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4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4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9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02" name="Google Shape;502;p49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03" name="Google Shape;503;p4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9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5" name="Google Shape;505;p49"/>
          <p:cNvSpPr txBox="1"/>
          <p:nvPr>
            <p:ph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06" name="Google Shape;506;p49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7" name="Google Shape;507;p4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08" name="Google Shape;508;p4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4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12" name="Google Shape;512;p50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13" name="Google Shape;513;p5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50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5" name="Google Shape;515;p50"/>
          <p:cNvSpPr txBox="1"/>
          <p:nvPr>
            <p:ph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16" name="Google Shape;516;p50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7" name="Google Shape;517;p5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18" name="Google Shape;518;p5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5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22" name="Google Shape;522;p51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23" name="Google Shape;523;p51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524" name="Google Shape;524;p51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525" name="Google Shape;525;p5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51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7" name="Google Shape;527;p51"/>
          <p:cNvSpPr txBox="1"/>
          <p:nvPr>
            <p:ph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28" name="Google Shape;528;p51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9" name="Google Shape;529;p5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30" name="Google Shape;530;p5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5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2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34" name="Google Shape;534;p52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535" name="Google Shape;535;p52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36" name="Google Shape;536;p5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52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8" name="Google Shape;538;p52"/>
          <p:cNvSpPr txBox="1"/>
          <p:nvPr>
            <p:ph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39" name="Google Shape;539;p52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0" name="Google Shape;540;p5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41" name="Google Shape;541;p5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5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3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45" name="Google Shape;545;p53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46" name="Google Shape;546;p53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47" name="Google Shape;547;p5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3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9" name="Google Shape;549;p53"/>
          <p:cNvSpPr txBox="1"/>
          <p:nvPr>
            <p:ph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50" name="Google Shape;550;p53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1" name="Google Shape;551;p5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52" name="Google Shape;552;p5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5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56" name="Google Shape;556;p54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57" name="Google Shape;557;p54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58" name="Google Shape;558;p5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0" name="Google Shape;560;p54"/>
          <p:cNvSpPr txBox="1"/>
          <p:nvPr>
            <p:ph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61" name="Google Shape;561;p54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2" name="Google Shape;562;p5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63" name="Google Shape;563;p5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5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67" name="Google Shape;567;p5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68" name="Google Shape;568;p55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69" name="Google Shape;569;p5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5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1" name="Google Shape;571;p55"/>
          <p:cNvSpPr txBox="1"/>
          <p:nvPr>
            <p:ph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72" name="Google Shape;572;p55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3" name="Google Shape;573;p5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74" name="Google Shape;574;p5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5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6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78" name="Google Shape;578;p56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579" name="Google Shape;579;p5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80" name="Google Shape;580;p5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6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82" name="Google Shape;582;p56"/>
          <p:cNvSpPr txBox="1"/>
          <p:nvPr>
            <p:ph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83" name="Google Shape;583;p56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4" name="Google Shape;584;p5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85" name="Google Shape;585;p5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5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7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589" name="Google Shape;589;p57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590" name="Google Shape;590;p57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591" name="Google Shape;591;p5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7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3" name="Google Shape;593;p57"/>
          <p:cNvSpPr txBox="1"/>
          <p:nvPr>
            <p:ph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94" name="Google Shape;594;p57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5" name="Google Shape;595;p5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596" name="Google Shape;596;p5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5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p58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600" name="Google Shape;600;p58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862"/>
              </a:srgbClr>
            </a:solidFill>
            <a:ln>
              <a:noFill/>
            </a:ln>
          </p:spPr>
        </p:sp>
        <p:sp>
          <p:nvSpPr>
            <p:cNvPr id="601" name="Google Shape;601;p58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602" name="Google Shape;602;p58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  <p:sp>
          <p:nvSpPr>
            <p:cNvPr id="603" name="Google Shape;603;p58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</p:grpSp>
      <p:sp>
        <p:nvSpPr>
          <p:cNvPr id="604" name="Google Shape;604;p5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8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6" name="Google Shape;606;p58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7" name="Google Shape;607;p58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608" name="Google Shape;608;p58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609" name="Google Shape;609;p58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610" name="Google Shape;610;p5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5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9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614" name="Google Shape;614;p59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615" name="Google Shape;615;p59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616" name="Google Shape;616;p5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9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618" name="Google Shape;618;p59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5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20" name="Google Shape;620;p5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5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oogle Shape;623;p60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624" name="Google Shape;624;p60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549"/>
              </a:srgbClr>
            </a:solidFill>
            <a:ln>
              <a:noFill/>
            </a:ln>
          </p:spPr>
        </p:sp>
        <p:sp>
          <p:nvSpPr>
            <p:cNvPr id="625" name="Google Shape;625;p60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626" name="Google Shape;626;p60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862"/>
              </a:srgbClr>
            </a:solidFill>
            <a:ln>
              <a:noFill/>
            </a:ln>
          </p:spPr>
        </p:sp>
        <p:sp>
          <p:nvSpPr>
            <p:cNvPr id="627" name="Google Shape;627;p60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628" name="Google Shape;628;p6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0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0" name="Google Shape;630;p60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631" name="Google Shape;631;p60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/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/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/>
              </a:rPr>
              <a:t>Freepik</a:t>
            </a:r>
            <a:r>
              <a:rPr b="0" i="0" lang="en" sz="1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632" name="Google Shape;632;p6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3" name="Google Shape;633;p6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61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636" name="Google Shape;636;p61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23"/>
              </a:srgbClr>
            </a:solidFill>
            <a:ln>
              <a:noFill/>
            </a:ln>
          </p:spPr>
        </p:sp>
        <p:sp>
          <p:nvSpPr>
            <p:cNvPr id="637" name="Google Shape;637;p61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862"/>
              </a:srgbClr>
            </a:solidFill>
            <a:ln>
              <a:noFill/>
            </a:ln>
          </p:spPr>
        </p:sp>
        <p:sp>
          <p:nvSpPr>
            <p:cNvPr id="638" name="Google Shape;638;p61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11"/>
              </a:srgbClr>
            </a:solidFill>
            <a:ln>
              <a:noFill/>
            </a:ln>
          </p:spPr>
        </p:sp>
      </p:grpSp>
      <p:sp>
        <p:nvSpPr>
          <p:cNvPr id="639" name="Google Shape;639;p6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1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1" name="Google Shape;641;p61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42" name="Google Shape;642;p6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6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2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646" name="Google Shape;646;p62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647" name="Google Shape;647;p62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648" name="Google Shape;648;p62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3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651" name="Google Shape;651;p63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652" name="Google Shape;652;p63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  <p:sp>
        <p:nvSpPr>
          <p:cNvPr id="653" name="Google Shape;653;p63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4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549"/>
            </a:srgbClr>
          </a:solidFill>
          <a:ln>
            <a:noFill/>
          </a:ln>
        </p:spPr>
      </p:sp>
      <p:sp>
        <p:nvSpPr>
          <p:cNvPr id="656" name="Google Shape;656;p64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11"/>
            </a:srgbClr>
          </a:solidFill>
          <a:ln>
            <a:noFill/>
          </a:ln>
        </p:spPr>
      </p:sp>
      <p:sp>
        <p:nvSpPr>
          <p:cNvPr id="657" name="Google Shape;657;p64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23"/>
            </a:srgbClr>
          </a:solidFill>
          <a:ln>
            <a:noFill/>
          </a:ln>
        </p:spPr>
      </p:sp>
      <p:sp>
        <p:nvSpPr>
          <p:cNvPr id="658" name="Google Shape;658;p64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862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b="0" i="0" sz="2800" u="none" cap="none" strike="noStrike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b="0" i="0" sz="3000" u="none" cap="none" strike="noStrike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b="0" i="0" sz="18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 b="0" i="0" sz="1400" u="none" cap="none" strike="noStrike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ieeexplore.ieee.org/document/1033773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SDJkPx8UABmDS4_QunSWw49thGkmLNe1/view" TargetMode="External"/><Relationship Id="rId4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sciencedirect.com/science/article/pii/S26673053230" TargetMode="External"/><Relationship Id="rId4" Type="http://schemas.openxmlformats.org/officeDocument/2006/relationships/hyperlink" Target="https://www.sciencedirect.com/science/article/pii/S26673053230" TargetMode="External"/><Relationship Id="rId5" Type="http://schemas.openxmlformats.org/officeDocument/2006/relationships/hyperlink" Target="https://www.researchgate.net/publication/370134282" TargetMode="External"/><Relationship Id="rId6" Type="http://schemas.openxmlformats.org/officeDocument/2006/relationships/hyperlink" Target="https://www.researchgate.net/publication/370134282" TargetMode="External"/><Relationship Id="rId7" Type="http://schemas.openxmlformats.org/officeDocument/2006/relationships/hyperlink" Target="https://www.sciencedirect.com/science/article/pii/S2666827022000433" TargetMode="External"/><Relationship Id="rId8" Type="http://schemas.openxmlformats.org/officeDocument/2006/relationships/hyperlink" Target="https://www.ijcaonline.org/proceedings/icaidsc2023/number1/car-damage-detection-analysis-using-deep-learning-computer-vision-technique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6"/>
          <p:cNvSpPr txBox="1"/>
          <p:nvPr>
            <p:ph type="ctrTitle"/>
          </p:nvPr>
        </p:nvSpPr>
        <p:spPr>
          <a:xfrm>
            <a:off x="1165775" y="1543250"/>
            <a:ext cx="60837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24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TEAM A14</a:t>
            </a:r>
            <a:endParaRPr b="1" sz="24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24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DOMAIN : DEEP </a:t>
            </a:r>
            <a:r>
              <a:rPr b="1" lang="en" sz="24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LEARNING</a:t>
            </a:r>
            <a:endParaRPr b="1" sz="24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5" name="Google Shape;665;p66"/>
          <p:cNvSpPr txBox="1"/>
          <p:nvPr>
            <p:ph idx="1" type="subTitle"/>
          </p:nvPr>
        </p:nvSpPr>
        <p:spPr>
          <a:xfrm>
            <a:off x="2515500" y="3128650"/>
            <a:ext cx="45519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M.Akhil                            1602-21-737-005        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N.Hemantha Giri              1602-21-737-020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Project Guide :     S.Rajyalaxmi 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(Assistant Professor)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6" name="Google Shape;666;p66"/>
          <p:cNvSpPr txBox="1"/>
          <p:nvPr/>
        </p:nvSpPr>
        <p:spPr>
          <a:xfrm>
            <a:off x="164450" y="769500"/>
            <a:ext cx="8779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Times"/>
                <a:ea typeface="Times"/>
                <a:cs typeface="Times"/>
                <a:sym typeface="Times"/>
              </a:rPr>
              <a:t>VASAVI COLLEGE OF ENGINEERING</a:t>
            </a:r>
            <a:endParaRPr b="1" sz="26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anjari"/>
                <a:ea typeface="Manjari"/>
                <a:cs typeface="Manjari"/>
                <a:sym typeface="Manjari"/>
              </a:rPr>
              <a:t>         				</a:t>
            </a:r>
            <a:r>
              <a:rPr b="1" lang="en" sz="1600">
                <a:latin typeface="Times"/>
                <a:ea typeface="Times"/>
                <a:cs typeface="Times"/>
                <a:sym typeface="Times"/>
              </a:rPr>
              <a:t>DEPARTMENT OF INFORMATION TECHNOLOGY</a:t>
            </a:r>
            <a:endParaRPr b="1" sz="16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7"/>
          <p:cNvSpPr txBox="1"/>
          <p:nvPr>
            <p:ph type="title"/>
          </p:nvPr>
        </p:nvSpPr>
        <p:spPr>
          <a:xfrm>
            <a:off x="0" y="546750"/>
            <a:ext cx="9144000" cy="3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en" sz="21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Title of the Project:</a:t>
            </a:r>
            <a:endParaRPr b="1" sz="21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8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 sz="10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lang="en" sz="38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Enhancing Car Damage Analysis Through YOLOv8 - Based Detection and Localization</a:t>
            </a:r>
            <a:endParaRPr sz="10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2" name="Google Shape;672;p67"/>
          <p:cNvSpPr txBox="1"/>
          <p:nvPr/>
        </p:nvSpPr>
        <p:spPr>
          <a:xfrm>
            <a:off x="136125" y="3507830"/>
            <a:ext cx="90078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Times"/>
                <a:ea typeface="Times"/>
                <a:cs typeface="Times"/>
                <a:sym typeface="Times"/>
              </a:rPr>
              <a:t>                                    </a:t>
            </a:r>
            <a:r>
              <a:rPr b="1" lang="en" sz="1500">
                <a:latin typeface="Times"/>
                <a:ea typeface="Times"/>
                <a:cs typeface="Times"/>
                <a:sym typeface="Times"/>
              </a:rPr>
              <a:t>URL of the paper</a:t>
            </a:r>
            <a:r>
              <a:rPr lang="en" sz="1500">
                <a:latin typeface="Times"/>
                <a:ea typeface="Times"/>
                <a:cs typeface="Times"/>
                <a:sym typeface="Times"/>
              </a:rPr>
              <a:t>:      </a:t>
            </a:r>
            <a:r>
              <a:rPr lang="en" sz="1500" u="sng">
                <a:latin typeface="Times"/>
                <a:ea typeface="Times"/>
                <a:cs typeface="Times"/>
                <a:sym typeface="Times"/>
                <a:hlinkClick r:id="rId3"/>
              </a:rPr>
              <a:t>https://ieeexplore.ieee.org/document/10337735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3" name="Google Shape;673;p67"/>
          <p:cNvSpPr txBox="1"/>
          <p:nvPr/>
        </p:nvSpPr>
        <p:spPr>
          <a:xfrm>
            <a:off x="45000" y="1597575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sz="19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8"/>
          <p:cNvSpPr txBox="1"/>
          <p:nvPr>
            <p:ph type="ctrTitle"/>
          </p:nvPr>
        </p:nvSpPr>
        <p:spPr>
          <a:xfrm>
            <a:off x="2006150" y="581372"/>
            <a:ext cx="5435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Table of contents</a:t>
            </a:r>
            <a:endParaRPr b="1" sz="2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9" name="Google Shape;679;p68"/>
          <p:cNvSpPr txBox="1"/>
          <p:nvPr>
            <p:ph idx="1" type="subTitle"/>
          </p:nvPr>
        </p:nvSpPr>
        <p:spPr>
          <a:xfrm>
            <a:off x="480375" y="1134025"/>
            <a:ext cx="7781700" cy="3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1.Abstract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2.Problem statement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3.Literature survey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4.Proposed Method and Architecture Diagram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5.</a:t>
            </a: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Experimental setup description - Data set description 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6.Evaluation Metrics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7.Results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8.Analysis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9.</a:t>
            </a: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Conclusion and future scope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10.References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11.Publication status</a:t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/>
          <p:nvPr>
            <p:ph idx="1" type="body"/>
          </p:nvPr>
        </p:nvSpPr>
        <p:spPr>
          <a:xfrm>
            <a:off x="713225" y="1300925"/>
            <a:ext cx="8152200" cy="32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Traditional inspection techniques are slow and subjective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Introduced automated system using YOLOv8s for detection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Trained on a vehicle damage dataset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Detects and classifies various vehicle damage types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Real-time detection for quick and accurate results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85" name="Google Shape;685;p69"/>
          <p:cNvSpPr txBox="1"/>
          <p:nvPr>
            <p:ph type="title"/>
          </p:nvPr>
        </p:nvSpPr>
        <p:spPr>
          <a:xfrm>
            <a:off x="1179325" y="564650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Abstract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0"/>
          <p:cNvSpPr txBox="1"/>
          <p:nvPr>
            <p:ph idx="1" type="body"/>
          </p:nvPr>
        </p:nvSpPr>
        <p:spPr>
          <a:xfrm>
            <a:off x="515775" y="1004750"/>
            <a:ext cx="84285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Manual vehicle damage inspection is slow and subjective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Prone to human error in damage assessment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Need for automated, accurate vehicle damage detection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YOLOv8s enables real-time detection and localization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Aims to improve speed and consistency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Reduces human intervention and potential errors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Targeted for insurance claims and investigations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91" name="Google Shape;691;p70"/>
          <p:cNvSpPr txBox="1"/>
          <p:nvPr>
            <p:ph type="title"/>
          </p:nvPr>
        </p:nvSpPr>
        <p:spPr>
          <a:xfrm>
            <a:off x="1248425" y="416600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 txBox="1"/>
          <p:nvPr>
            <p:ph type="title"/>
          </p:nvPr>
        </p:nvSpPr>
        <p:spPr>
          <a:xfrm>
            <a:off x="1161125" y="53147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3. 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Literature survey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697" name="Google Shape;697;p71"/>
          <p:cNvGraphicFramePr/>
          <p:nvPr/>
        </p:nvGraphicFramePr>
        <p:xfrm>
          <a:off x="120025" y="106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{06A76B13-BDC3-4458-9222-97A57127DFAF}</a:tableStyleId>
              </a:tblPr>
              <a:tblGrid>
                <a:gridCol w="1574775"/>
                <a:gridCol w="2807200"/>
                <a:gridCol w="2141200"/>
                <a:gridCol w="2372450"/>
              </a:tblGrid>
              <a:tr h="46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authors(s)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Proposed methodology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Gaps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3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Jihad Qaddour , Syeda Ayesha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Siddiqa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Deep learning-based estimator for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vehicle damage assessment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detection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Lacks real-time evaluation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 diverse datasets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3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R. Rudra, P. Sarker, F. H.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Khan, A. Guha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Mask-RCNN-based instance seg-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mentation for detecting vehicle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damage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85.3% mAP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Computationally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expensive for real-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applications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2" name="Google Shape;702;p72"/>
          <p:cNvGraphicFramePr/>
          <p:nvPr/>
        </p:nvGraphicFramePr>
        <p:xfrm>
          <a:off x="75250" y="105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{06A76B13-BDC3-4458-9222-97A57127DFAF}</a:tableStyleId>
              </a:tblPr>
              <a:tblGrid>
                <a:gridCol w="2248375"/>
                <a:gridCol w="2248375"/>
                <a:gridCol w="2248375"/>
                <a:gridCol w="2248375"/>
              </a:tblGrid>
              <a:tr h="58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author(s)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Approach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Gap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8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R. E. Van Ruitenbeek, S. Bhu-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lai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CNN-based model for vehicle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damage classification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81.2% accuracy 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 dataset with few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damage categories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1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N. Verma, P. S. Kumar, R. Ya-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dav, V. Kumar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Combination of deep learning and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computer vision techniques for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damage assessment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78.6% accuracy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Lacks robustness in vary-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ing lighting conditions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3" name="Google Shape;703;p72"/>
          <p:cNvSpPr txBox="1"/>
          <p:nvPr/>
        </p:nvSpPr>
        <p:spPr>
          <a:xfrm>
            <a:off x="2043550" y="454125"/>
            <a:ext cx="540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           </a:t>
            </a:r>
            <a:r>
              <a:rPr b="1" lang="en" sz="2700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3.Literature survey</a:t>
            </a:r>
            <a:endParaRPr b="1" sz="2700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3"/>
          <p:cNvSpPr txBox="1"/>
          <p:nvPr>
            <p:ph idx="1" type="body"/>
          </p:nvPr>
        </p:nvSpPr>
        <p:spPr>
          <a:xfrm>
            <a:off x="713225" y="1300925"/>
            <a:ext cx="8310000" cy="32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Model:</a:t>
            </a:r>
            <a:endParaRPr b="1"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We use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YOLOv8 (You Only Look Once – version 8)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an advanced real-time object detection model developed by Ultralytics.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Detect and localize car damages using YOLOv8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Real-time object detection with high accuracy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Trained on labeled car damage image dataset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09" name="Google Shape;709;p73"/>
          <p:cNvSpPr txBox="1"/>
          <p:nvPr>
            <p:ph type="title"/>
          </p:nvPr>
        </p:nvSpPr>
        <p:spPr>
          <a:xfrm>
            <a:off x="1199075" y="426450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Method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74"/>
          <p:cNvSpPr txBox="1"/>
          <p:nvPr>
            <p:ph idx="1" type="body"/>
          </p:nvPr>
        </p:nvSpPr>
        <p:spPr>
          <a:xfrm>
            <a:off x="713225" y="1300925"/>
            <a:ext cx="7994100" cy="32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Workflow Overview:</a:t>
            </a:r>
            <a:endParaRPr b="1"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Input: Image of a car with visible surface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Preprocessing: Resize, normalize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YOLOv8 model processes the image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Output: Bounding boxes around detected damages with confidence scores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5" name="Google Shape;715;p74"/>
          <p:cNvSpPr txBox="1"/>
          <p:nvPr>
            <p:ph type="title"/>
          </p:nvPr>
        </p:nvSpPr>
        <p:spPr>
          <a:xfrm>
            <a:off x="1297775" y="554800"/>
            <a:ext cx="6234900" cy="5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Proposed method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5"/>
          <p:cNvSpPr txBox="1"/>
          <p:nvPr>
            <p:ph idx="1" type="body"/>
          </p:nvPr>
        </p:nvSpPr>
        <p:spPr>
          <a:xfrm rot="10800000">
            <a:off x="-1470825" y="443801"/>
            <a:ext cx="7008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75"/>
          <p:cNvSpPr txBox="1"/>
          <p:nvPr>
            <p:ph type="title"/>
          </p:nvPr>
        </p:nvSpPr>
        <p:spPr>
          <a:xfrm>
            <a:off x="1208750" y="404300"/>
            <a:ext cx="62325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4.Architecture Diagram</a:t>
            </a:r>
            <a:endParaRPr b="1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22" name="Google Shape;722;p75" title="Untitled desig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500" y="915200"/>
            <a:ext cx="7162998" cy="365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6"/>
          <p:cNvSpPr txBox="1"/>
          <p:nvPr>
            <p:ph idx="1" type="body"/>
          </p:nvPr>
        </p:nvSpPr>
        <p:spPr>
          <a:xfrm>
            <a:off x="900800" y="1300925"/>
            <a:ext cx="7707900" cy="29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Training done using Kaggle P100 GPU environment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Trained with Ultralytics YOLOv8 PyTorch framework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Epochs, batch size tuned for optimal performance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Evaluated based on precision, recall, F1-score, and Intersection over Union (IoU).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28" name="Google Shape;728;p76"/>
          <p:cNvSpPr txBox="1"/>
          <p:nvPr>
            <p:ph type="title"/>
          </p:nvPr>
        </p:nvSpPr>
        <p:spPr>
          <a:xfrm>
            <a:off x="1850650" y="564650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5.Experimental setup description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7"/>
          <p:cNvSpPr txBox="1"/>
          <p:nvPr>
            <p:ph idx="1" type="body"/>
          </p:nvPr>
        </p:nvSpPr>
        <p:spPr>
          <a:xfrm>
            <a:off x="713225" y="1300925"/>
            <a:ext cx="7786800" cy="32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Custom dataset of damaged car surface images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Included scratches, dents, cracks, and deformities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Images annotated with bounding boxes for damage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Collected from roboflow platform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Preprocessed with resizing and normalization techniques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Divided dataset into training, validation, testing sets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4" name="Google Shape;734;p77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Dataset Description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8"/>
          <p:cNvSpPr txBox="1"/>
          <p:nvPr>
            <p:ph idx="1" type="body"/>
          </p:nvPr>
        </p:nvSpPr>
        <p:spPr>
          <a:xfrm>
            <a:off x="762575" y="1449025"/>
            <a:ext cx="7717800" cy="26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Precision: Correct detections / total detections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Recall: Correct detections / total actual damage instances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mAP (mean Average Precision): Measures both localization and classification accuracy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IoU (Intersection over Union): Evaluates overlap between predicted and ground truth bounding boxes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40" name="Google Shape;740;p78"/>
          <p:cNvSpPr txBox="1"/>
          <p:nvPr>
            <p:ph type="title"/>
          </p:nvPr>
        </p:nvSpPr>
        <p:spPr>
          <a:xfrm>
            <a:off x="1297800" y="56467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6.</a:t>
            </a:r>
            <a:r>
              <a:rPr b="1" lang="en">
                <a:solidFill>
                  <a:srgbClr val="212121"/>
                </a:solidFill>
                <a:latin typeface="Times"/>
                <a:ea typeface="Times"/>
                <a:cs typeface="Times"/>
                <a:sym typeface="Times"/>
              </a:rPr>
              <a:t>Evaluation Metrics</a:t>
            </a:r>
            <a:endParaRPr b="1">
              <a:solidFill>
                <a:srgbClr val="21212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9"/>
          <p:cNvSpPr txBox="1"/>
          <p:nvPr>
            <p:ph idx="1" type="body"/>
          </p:nvPr>
        </p:nvSpPr>
        <p:spPr>
          <a:xfrm>
            <a:off x="319925" y="915825"/>
            <a:ext cx="8672700" cy="23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Model Performance Metrics</a:t>
            </a:r>
            <a:endParaRPr b="1"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model achieves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high precision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(87.7%), indicating that most predicted damages are correct.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recall of 74.8%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shows it identifies a majority of actual damages.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mAP@0.5 of 83.1%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confirms strong performance under standard IoU threshold.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mAP@0.5:0.95 of 63.9%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reflects good localization and generalization across varying IoU thresholds.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46" name="Google Shape;746;p79"/>
          <p:cNvSpPr txBox="1"/>
          <p:nvPr>
            <p:ph type="title"/>
          </p:nvPr>
        </p:nvSpPr>
        <p:spPr>
          <a:xfrm>
            <a:off x="1149700" y="49557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Results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47" name="Google Shape;74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2776" y="3083450"/>
            <a:ext cx="2778450" cy="14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9"/>
          <p:cNvSpPr txBox="1"/>
          <p:nvPr/>
        </p:nvSpPr>
        <p:spPr>
          <a:xfrm>
            <a:off x="6079175" y="3875375"/>
            <a:ext cx="2502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"/>
                <a:ea typeface="Times"/>
                <a:cs typeface="Times"/>
                <a:sym typeface="Times"/>
              </a:rPr>
              <a:t>output of an object detection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"/>
                <a:ea typeface="Times"/>
                <a:cs typeface="Times"/>
                <a:sym typeface="Times"/>
              </a:rPr>
              <a:t>model applied to a damaged car</a:t>
            </a:r>
            <a:endParaRPr sz="13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0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"/>
                <a:ea typeface="Times"/>
                <a:cs typeface="Times"/>
                <a:sym typeface="Times"/>
              </a:rPr>
              <a:t>Execution Video</a:t>
            </a:r>
            <a:endParaRPr b="1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80" title="execution 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900" y="1211725"/>
            <a:ext cx="5392723" cy="2145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80"/>
          <p:cNvSpPr txBox="1"/>
          <p:nvPr/>
        </p:nvSpPr>
        <p:spPr>
          <a:xfrm>
            <a:off x="1973975" y="3633325"/>
            <a:ext cx="5178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https://drive.google.com/file/d/1SDJkPx8UABmDS4_QunSWw49thGkmLNe1/view?usp=drive_link</a:t>
            </a:r>
            <a:endParaRPr sz="1800"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1"/>
          <p:cNvSpPr txBox="1"/>
          <p:nvPr>
            <p:ph idx="1" type="body"/>
          </p:nvPr>
        </p:nvSpPr>
        <p:spPr>
          <a:xfrm>
            <a:off x="713225" y="1300925"/>
            <a:ext cx="8191800" cy="32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Model shows high accuracy in predictions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Most predicted damages are correctly localized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Some actual damages are occasionally missed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Few false positives due to reflections or shadows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61" name="Google Shape;761;p81"/>
          <p:cNvSpPr txBox="1"/>
          <p:nvPr>
            <p:ph type="title"/>
          </p:nvPr>
        </p:nvSpPr>
        <p:spPr>
          <a:xfrm>
            <a:off x="1278050" y="5745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Analysis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2"/>
          <p:cNvSpPr txBox="1"/>
          <p:nvPr>
            <p:ph idx="1" type="body"/>
          </p:nvPr>
        </p:nvSpPr>
        <p:spPr>
          <a:xfrm>
            <a:off x="713225" y="1300925"/>
            <a:ext cx="7717800" cy="3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This project successfully implemented an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automated car damage detection system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using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YOLOv8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a state-of-the-art object detection model.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model demonstrated high accuracy (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mAP@0.5 ~83%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in identifying and localizing various types of car damages (scratches, dents, cracks).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It offers </a:t>
            </a: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real-time performance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making it suitable for integration into mobile apps or insurance claim platforms.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AutoNum type="arabicPeriod"/>
            </a:pP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The approach reduces manual inspection effort, increases objectivity, and speeds up damage assessment.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67" name="Google Shape;767;p82"/>
          <p:cNvSpPr txBox="1"/>
          <p:nvPr>
            <p:ph type="title"/>
          </p:nvPr>
        </p:nvSpPr>
        <p:spPr>
          <a:xfrm>
            <a:off x="1169450" y="5745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Conclusion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3"/>
          <p:cNvSpPr txBox="1"/>
          <p:nvPr>
            <p:ph idx="1" type="body"/>
          </p:nvPr>
        </p:nvSpPr>
        <p:spPr>
          <a:xfrm>
            <a:off x="713225" y="1300925"/>
            <a:ext cx="8300400" cy="32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Larger Dataset and Fine-Tuning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Train on larger, real-world datasets for better generalization across car models, colors, and environments.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Mobile and Cloud Deployment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Integrate with mobile applications via REST APIs for end-user access and on-site car inspections.</a:t>
            </a:r>
            <a:b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AutoNum type="arabicPeriod"/>
            </a:pPr>
            <a:r>
              <a:rPr b="1"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Insurance Integration</a:t>
            </a:r>
            <a:r>
              <a:rPr lang="en" sz="17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Collaborate with insurance providers to automate the vehicle damage claim process.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3" name="Google Shape;773;p83"/>
          <p:cNvSpPr txBox="1"/>
          <p:nvPr>
            <p:ph type="title"/>
          </p:nvPr>
        </p:nvSpPr>
        <p:spPr>
          <a:xfrm>
            <a:off x="1100325" y="55477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Future Scope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4"/>
          <p:cNvSpPr txBox="1"/>
          <p:nvPr>
            <p:ph idx="1" type="body"/>
          </p:nvPr>
        </p:nvSpPr>
        <p:spPr>
          <a:xfrm>
            <a:off x="125" y="974775"/>
            <a:ext cx="91440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[1] Qaddour, J., &amp; Siddiqa, S. A. (2023). Automatic damaged vehicle estimator using enhanced deep learning algorithm. ScienceDirect. Retrieved from: </a:t>
            </a: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3"/>
              </a:rPr>
              <a:t>https://www.sciencedirect.com/science/article/pii/S26673053230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4"/>
              </a:rPr>
              <a:t>00170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[2] R. Rudra, P. Sarker, F. H. Khan, A. Guha, Instance Segmentation for Car Damage Detection with Mask-RCNN, ResearchGate, 2023. Available:</a:t>
            </a: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5"/>
              </a:rPr>
              <a:t>https://www.researchgate.net/publication/370134282 Instance Segmentation for Car Damage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6"/>
              </a:rPr>
              <a:t>Detection with Mask-RCNN</a:t>
            </a: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[3] R. E. Van Ruitenbeek, S. Bhulai, Convolutional Neural Networks for Vehicle Damage Detection, ScienceDirect, 2022. Available: </a:t>
            </a: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7"/>
              </a:rPr>
              <a:t>https://www.sciencedirect.com/science/article/pii/S2666827022000433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[4] N. Verma, P. S. Kumar, R. Yadav, V. Kumar, Car Damage Detection Analysis Using Deep Learning, Computer Vision Techniques, International Journal of Computer Applications, 2025. Available: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8"/>
              </a:rPr>
              <a:t>https://www.ijcaonline.org/proceedings/icaidsc2023/number1/car-damage-detection-analysis-using-deep-learning-computer-vision-techniques/</a:t>
            </a:r>
            <a:r>
              <a:rPr lang="en" sz="1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9" name="Google Shape;779;p84"/>
          <p:cNvSpPr txBox="1"/>
          <p:nvPr>
            <p:ph type="title"/>
          </p:nvPr>
        </p:nvSpPr>
        <p:spPr>
          <a:xfrm>
            <a:off x="1051000" y="44617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10. 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References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85"/>
          <p:cNvSpPr txBox="1"/>
          <p:nvPr>
            <p:ph idx="1" type="body"/>
          </p:nvPr>
        </p:nvSpPr>
        <p:spPr>
          <a:xfrm>
            <a:off x="713225" y="1300925"/>
            <a:ext cx="82212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Times"/>
                <a:ea typeface="Times"/>
                <a:cs typeface="Times"/>
                <a:sym typeface="Times"/>
              </a:rPr>
              <a:t>Submitted paper in 8th International Conference on Intelligent Computing and Communication</a:t>
            </a:r>
            <a:endParaRPr sz="17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5" name="Google Shape;785;p85"/>
          <p:cNvSpPr txBox="1"/>
          <p:nvPr>
            <p:ph type="title"/>
          </p:nvPr>
        </p:nvSpPr>
        <p:spPr>
          <a:xfrm>
            <a:off x="1337275" y="564650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11.</a:t>
            </a:r>
            <a:r>
              <a:rPr b="1" lang="en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Publication status</a:t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86" name="Google Shape;78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450" y="1962525"/>
            <a:ext cx="7996600" cy="25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